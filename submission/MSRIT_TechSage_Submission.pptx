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mailto:1ms24ci034@msrit.edu" TargetMode="External"/><Relationship Id="rId7" Type="http://schemas.openxmlformats.org/officeDocument/2006/relationships/hyperlink" Target="https://github.com/bhupalamjathin-svg/prism-p2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1ms25cy014@msrit.edu" TargetMode="External"/><Relationship Id="rId5" Type="http://schemas.openxmlformats.org/officeDocument/2006/relationships/hyperlink" Target="mailto:1ms23ci030@msrit.edu" TargetMode="External"/><Relationship Id="rId4" Type="http://schemas.openxmlformats.org/officeDocument/2006/relationships/hyperlink" Target="mailto:1ms24ci125@msrit.edu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hupalamjathin-svg/prism-p2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file/d/1Fycq6SgYgQpwuYQLcsMfIaL8aThC7XMw/view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85628" y="3273552"/>
            <a:ext cx="6638629" cy="2907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lvl="0" indent="-177800">
              <a:buClr>
                <a:srgbClr val="63637E"/>
              </a:buClr>
              <a:buSzPts val="1600"/>
              <a:buFont typeface="Calibri"/>
              <a:buChar char="•"/>
            </a:pPr>
            <a:r>
              <a:rPr sz="1300" b="0" dirty="0">
                <a:solidFill>
                  <a:srgbClr val="63637E"/>
                </a:solidFill>
                <a:latin typeface="Arial"/>
              </a:rPr>
              <a:t>Theme ID </a:t>
            </a:r>
            <a:r>
              <a:rPr sz="1300" b="0" dirty="0">
                <a:solidFill>
                  <a:schemeClr val="tx1"/>
                </a:solidFill>
                <a:latin typeface="Arial"/>
              </a:rPr>
              <a:t>- 02</a:t>
            </a:r>
            <a:r>
              <a:rPr sz="1300" b="0" dirty="0">
                <a:solidFill>
                  <a:srgbClr val="63637E"/>
                </a:solidFill>
                <a:latin typeface="Arial"/>
              </a:rPr>
              <a:t>
Team Name - </a:t>
            </a:r>
            <a:r>
              <a:rPr sz="1300" b="1" dirty="0" err="1">
                <a:solidFill>
                  <a:schemeClr val="tx1"/>
                </a:solidFill>
                <a:latin typeface="Arial"/>
              </a:rPr>
              <a:t>TechSage</a:t>
            </a:r>
            <a:r>
              <a:rPr sz="1300" b="0" dirty="0">
                <a:solidFill>
                  <a:srgbClr val="63637E"/>
                </a:solidFill>
                <a:latin typeface="Arial"/>
              </a:rPr>
              <a:t>
College Name - </a:t>
            </a:r>
            <a:r>
              <a:rPr sz="1300" dirty="0">
                <a:solidFill>
                  <a:schemeClr val="tx1"/>
                </a:solidFill>
                <a:latin typeface="Arial"/>
              </a:rPr>
              <a:t>M.S. Ramaiah Institute of Technology</a:t>
            </a:r>
            <a:r>
              <a:rPr sz="1300" b="0" dirty="0">
                <a:solidFill>
                  <a:srgbClr val="63637E"/>
                </a:solidFill>
                <a:latin typeface="Arial"/>
              </a:rPr>
              <a:t>
</a:t>
            </a:r>
            <a:r>
              <a:rPr lang="en-IN" sz="1200" b="1" dirty="0">
                <a:solidFill>
                  <a:schemeClr val="tx2">
                    <a:lumMod val="50000"/>
                  </a:schemeClr>
                </a:solidFill>
              </a:rPr>
              <a:t>Team Members </a:t>
            </a:r>
            <a:r>
              <a:rPr lang="en-IN" sz="1200" b="1" dirty="0"/>
              <a:t>–</a:t>
            </a:r>
            <a:r>
              <a:rPr lang="en-IN" sz="1200" dirty="0"/>
              <a:t> </a:t>
            </a:r>
          </a:p>
          <a:p>
            <a:pPr lvl="0">
              <a:buClr>
                <a:srgbClr val="63637E"/>
              </a:buClr>
              <a:buSzPts val="1600"/>
            </a:pPr>
            <a:r>
              <a:rPr lang="en-IN" sz="1200" dirty="0"/>
              <a:t>     Sai Jathin </a:t>
            </a:r>
            <a:r>
              <a:rPr lang="en-IN" sz="1200" dirty="0" err="1"/>
              <a:t>Bhupalam</a:t>
            </a:r>
            <a:r>
              <a:rPr lang="en-IN" sz="1200" dirty="0"/>
              <a:t> &amp; </a:t>
            </a:r>
            <a:r>
              <a:rPr lang="en-IN" sz="1200" dirty="0">
                <a:hlinkClick r:id="rId3"/>
              </a:rPr>
              <a:t>1ms24ci034@msrit.edu</a:t>
            </a:r>
            <a:br>
              <a:rPr lang="en-IN" sz="1200" dirty="0"/>
            </a:br>
            <a:r>
              <a:rPr lang="en-IN" sz="1200" dirty="0"/>
              <a:t>     Sontam Prekshitha &amp; </a:t>
            </a:r>
            <a:r>
              <a:rPr lang="en-IN" sz="1200" dirty="0">
                <a:hlinkClick r:id="rId4"/>
              </a:rPr>
              <a:t>1ms24ci125@msrit.edu</a:t>
            </a:r>
            <a:br>
              <a:rPr lang="en-IN" sz="1200" dirty="0"/>
            </a:br>
            <a:r>
              <a:rPr lang="en-IN" sz="1200" dirty="0"/>
              <a:t>     Deetya Sri &amp; </a:t>
            </a:r>
            <a:r>
              <a:rPr lang="en-IN" sz="1200" dirty="0">
                <a:hlinkClick r:id="rId5"/>
              </a:rPr>
              <a:t>1ms23ci030@msrit.edu</a:t>
            </a:r>
            <a:br>
              <a:rPr lang="en-IN" sz="1200" dirty="0"/>
            </a:br>
            <a:r>
              <a:rPr lang="en-IN" sz="1200" dirty="0"/>
              <a:t>     Avani </a:t>
            </a:r>
            <a:r>
              <a:rPr lang="en-IN" sz="1200" dirty="0" err="1"/>
              <a:t>Kamoji</a:t>
            </a:r>
            <a:r>
              <a:rPr lang="en-IN" sz="1200" dirty="0"/>
              <a:t> &amp; </a:t>
            </a:r>
            <a:r>
              <a:rPr lang="en-IN" sz="1200" dirty="0">
                <a:hlinkClick r:id="rId6"/>
              </a:rPr>
              <a:t>1ms25cy014@msrit.edu</a:t>
            </a:r>
            <a:r>
              <a:rPr sz="1300" b="0" dirty="0">
                <a:solidFill>
                  <a:srgbClr val="63637E"/>
                </a:solidFill>
                <a:latin typeface="Arial"/>
              </a:rPr>
              <a:t>
</a:t>
            </a:r>
            <a:r>
              <a:rPr lang="en-IN" sz="1300" b="0" dirty="0">
                <a:solidFill>
                  <a:srgbClr val="63637E"/>
                </a:solidFill>
                <a:latin typeface="Arial"/>
              </a:rPr>
              <a:t>Submission </a:t>
            </a:r>
            <a:r>
              <a:rPr lang="en-IN" sz="1300" b="0" dirty="0" err="1">
                <a:solidFill>
                  <a:srgbClr val="63637E"/>
                </a:solidFill>
                <a:latin typeface="Arial"/>
              </a:rPr>
              <a:t>Github</a:t>
            </a:r>
            <a:r>
              <a:rPr lang="en-IN" sz="1300" b="0" dirty="0">
                <a:solidFill>
                  <a:srgbClr val="63637E"/>
                </a:solidFill>
                <a:latin typeface="Arial"/>
              </a:rPr>
              <a:t> link </a:t>
            </a:r>
            <a:r>
              <a:rPr sz="1300" b="0" dirty="0">
                <a:solidFill>
                  <a:srgbClr val="63637E"/>
                </a:solidFill>
                <a:latin typeface="Arial"/>
              </a:rPr>
              <a:t>-</a:t>
            </a:r>
            <a:r>
              <a:rPr lang="en-US" sz="1300" b="0" dirty="0">
                <a:solidFill>
                  <a:srgbClr val="63637E"/>
                </a:solidFill>
                <a:latin typeface="Arial"/>
              </a:rPr>
              <a:t> </a:t>
            </a:r>
            <a:r>
              <a:rPr lang="en-IN" dirty="0">
                <a:hlinkClick r:id="rId7"/>
              </a:rPr>
              <a:t>https://</a:t>
            </a:r>
            <a:r>
              <a:rPr lang="en-IN" dirty="0" err="1">
                <a:hlinkClick r:id="rId7"/>
              </a:rPr>
              <a:t>github.com</a:t>
            </a:r>
            <a:r>
              <a:rPr lang="en-IN" dirty="0">
                <a:hlinkClick r:id="rId7"/>
              </a:rPr>
              <a:t>/</a:t>
            </a:r>
            <a:r>
              <a:rPr lang="en-IN" dirty="0" err="1">
                <a:hlinkClick r:id="rId7"/>
              </a:rPr>
              <a:t>bhupalamjathin-svg</a:t>
            </a:r>
            <a:r>
              <a:rPr lang="en-IN" dirty="0">
                <a:hlinkClick r:id="rId7"/>
              </a:rPr>
              <a:t>/prism-p2</a:t>
            </a:r>
            <a:r>
              <a:rPr lang="en-IN" dirty="0"/>
              <a:t> </a:t>
            </a:r>
            <a:endParaRPr dirty="0"/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TextBox 96"/>
          <p:cNvSpPr txBox="1"/>
          <p:nvPr/>
        </p:nvSpPr>
        <p:spPr>
          <a:xfrm>
            <a:off x="777240" y="5440680"/>
            <a:ext cx="6217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Arial"/>
              </a:rPr>
              <a:t>Smart Guided Troubleshooting Engine  ·  Theme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700" b="1">
                <a:solidFill>
                  <a:srgbClr val="704EA6"/>
                </a:solidFill>
                <a:latin typeface="Arial"/>
              </a:rPr>
              <a:t>Theme</a:t>
            </a:r>
            <a:endParaRPr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03" name="TextBox 102"/>
          <p:cNvSpPr txBox="1"/>
          <p:nvPr/>
        </p:nvSpPr>
        <p:spPr>
          <a:xfrm>
            <a:off x="868680" y="1481328"/>
            <a:ext cx="101498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4142B"/>
                </a:solidFill>
                <a:latin typeface="Arial"/>
              </a:rPr>
              <a:t>Smart Guided Troubleshooting for Samsung Devices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8680" y="1901952"/>
            <a:ext cx="100584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dirty="0">
                <a:solidFill>
                  <a:srgbClr val="63637E"/>
                </a:solidFill>
                <a:latin typeface="Arial"/>
              </a:rPr>
              <a:t>Tur</a:t>
            </a:r>
            <a:r>
              <a:rPr lang="en-IN" sz="1400" b="0" dirty="0">
                <a:solidFill>
                  <a:srgbClr val="63637E"/>
                </a:solidFill>
                <a:latin typeface="Arial"/>
              </a:rPr>
              <a:t>n a vague customer complain</a:t>
            </a:r>
            <a:r>
              <a:rPr sz="1400" b="0" dirty="0">
                <a:solidFill>
                  <a:srgbClr val="63637E"/>
                </a:solidFill>
                <a:latin typeface="Arial"/>
              </a:rPr>
              <a:t>t into a safe, ordered, version-aware troubleshooting plan.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68680" y="2542032"/>
            <a:ext cx="2331720" cy="347472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F6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6D28D9"/>
                </a:solidFill>
                <a:latin typeface="Arial"/>
              </a:rPr>
              <a:t>1  QUERY ENRICHMENT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337560" y="2542032"/>
            <a:ext cx="2331720" cy="347472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F6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6D28D9"/>
                </a:solidFill>
                <a:latin typeface="Arial"/>
              </a:rPr>
              <a:t>2  SAFE SEQUENCING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806440" y="2542032"/>
            <a:ext cx="2331720" cy="347472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F6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6D28D9"/>
                </a:solidFill>
                <a:latin typeface="Arial"/>
              </a:rPr>
              <a:t>3  EXACT NAVIGATION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275320" y="2542032"/>
            <a:ext cx="2331720" cy="347472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F6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100" b="1">
                <a:solidFill>
                  <a:srgbClr val="6D28D9"/>
                </a:solidFill>
                <a:latin typeface="Arial"/>
              </a:rPr>
              <a:t>4  FAST-PATH SERVING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68680" y="2999232"/>
            <a:ext cx="2331720" cy="1417320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868680" y="2999232"/>
            <a:ext cx="2331720" cy="73152"/>
          </a:xfrm>
          <a:prstGeom prst="roundRect">
            <a:avLst/>
          </a:prstGeom>
          <a:solidFill>
            <a:srgbClr val="6D28D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014983" y="3163824"/>
            <a:ext cx="20391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6D28D9"/>
                </a:solidFill>
                <a:latin typeface="Arial"/>
              </a:rPr>
              <a:t>Vague → Precise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14983" y="3566160"/>
            <a:ext cx="2039112" cy="7315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Normalize colloquial complaints into structured intent, symptoms and device context.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337560" y="2999232"/>
            <a:ext cx="2331720" cy="1417320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3337560" y="2999232"/>
            <a:ext cx="2331720" cy="73152"/>
          </a:xfrm>
          <a:prstGeom prst="roundRect">
            <a:avLst/>
          </a:prstGeom>
          <a:solidFill>
            <a:srgbClr val="6D28D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483864" y="3163824"/>
            <a:ext cx="20391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6D28D9"/>
                </a:solidFill>
                <a:latin typeface="Arial"/>
              </a:rPr>
              <a:t>Safe &amp; Ordered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83864" y="3566160"/>
            <a:ext cx="2039112" cy="7315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Select supported actions and place lower-risk steps before gated actions.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5806440" y="2999232"/>
            <a:ext cx="2331720" cy="1417320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5806440" y="2999232"/>
            <a:ext cx="2331720" cy="73152"/>
          </a:xfrm>
          <a:prstGeom prst="roundRect">
            <a:avLst/>
          </a:prstGeom>
          <a:solidFill>
            <a:srgbClr val="6D28D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952744" y="3163824"/>
            <a:ext cx="20391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6D28D9"/>
                </a:solidFill>
                <a:latin typeface="Arial"/>
              </a:rPr>
              <a:t>Verified Navigation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952744" y="3566160"/>
            <a:ext cx="2039112" cy="7315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Resolve actions only to supported Samsung Settings / Android destinations.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275320" y="2999232"/>
            <a:ext cx="2331720" cy="1417320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ounded Rectangle 121"/>
          <p:cNvSpPr/>
          <p:nvPr/>
        </p:nvSpPr>
        <p:spPr>
          <a:xfrm>
            <a:off x="8275320" y="2999232"/>
            <a:ext cx="2331720" cy="73152"/>
          </a:xfrm>
          <a:prstGeom prst="roundRect">
            <a:avLst/>
          </a:prstGeom>
          <a:solidFill>
            <a:srgbClr val="6D28D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421624" y="3163824"/>
            <a:ext cx="20391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6D28D9"/>
                </a:solidFill>
                <a:latin typeface="Arial"/>
              </a:rPr>
              <a:t>Validated Cache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21624" y="3566160"/>
            <a:ext cx="2039112" cy="7315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Cache only validated plans; target fast repeat responses for known scenarios.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68680" y="4828032"/>
            <a:ext cx="100584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700" b="1">
                <a:solidFill>
                  <a:srgbClr val="6D28D9"/>
                </a:solidFill>
                <a:latin typeface="Arial"/>
              </a:rPr>
              <a:t>VAGUE  →  PRECISE  →  SAFE  →  VERIFIED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4400" y="5532120"/>
            <a:ext cx="99669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>
                <a:solidFill>
                  <a:srgbClr val="14142B"/>
                </a:solidFill>
                <a:latin typeface="Arial"/>
              </a:rPr>
              <a:t>Neuro-symbolic principle: AI handles language; deterministic rules, scenario data and validation control what becomes an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700" b="1">
                <a:solidFill>
                  <a:srgbClr val="704EA6"/>
                </a:solidFill>
                <a:latin typeface="Arial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868680" y="1143000"/>
            <a:ext cx="10149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63637E"/>
                </a:solidFill>
                <a:latin typeface="Arial"/>
              </a:rPr>
              <a:t>Existing approaches solve parts of the journey — the missing layer is safe, ordered, exact navigation from plain language.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68680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868680" y="1664208"/>
            <a:ext cx="3246120" cy="73152"/>
          </a:xfrm>
          <a:prstGeom prst="roundRect">
            <a:avLst/>
          </a:prstGeom>
          <a:solidFill>
            <a:srgbClr val="6D28D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014983" y="1828800"/>
            <a:ext cx="29535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6D28D9"/>
                </a:solidFill>
                <a:latin typeface="Arial"/>
              </a:rPr>
              <a:t>GENERIC LLM ASSISTANTS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14983" y="2231136"/>
            <a:ext cx="2953512" cy="2560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Understand colloquial complaints</a:t>
            </a:r>
          </a:p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Fast, conversational support</a:t>
            </a:r>
          </a:p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Free-form actions may be unsupported</a:t>
            </a:r>
          </a:p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Settings destinations may be uncertain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279392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4279392" y="1664208"/>
            <a:ext cx="3246120" cy="73152"/>
          </a:xfrm>
          <a:prstGeom prst="roundRect">
            <a:avLst/>
          </a:prstGeom>
          <a:solidFill>
            <a:srgbClr val="3EA9A9"/>
          </a:solidFill>
          <a:ln w="10160">
            <a:solidFill>
              <a:srgbClr val="3E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425696" y="1828800"/>
            <a:ext cx="29535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3EA9A9"/>
                </a:solidFill>
                <a:latin typeface="Arial"/>
              </a:rPr>
              <a:t>STATIC FAQ / RULE TREES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425696" y="2231136"/>
            <a:ext cx="2953512" cy="2560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Predictable answers for known labels</a:t>
            </a:r>
          </a:p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Easy to validate fixed flows</a:t>
            </a:r>
          </a:p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Brittle to new user phrasing</a:t>
            </a:r>
          </a:p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Scaling needs more hard-coded scenarios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690104" y="1664208"/>
            <a:ext cx="324612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7690104" y="1664208"/>
            <a:ext cx="3246120" cy="73152"/>
          </a:xfrm>
          <a:prstGeom prst="roundRect">
            <a:avLst/>
          </a:prstGeom>
          <a:solidFill>
            <a:srgbClr val="BE7014"/>
          </a:solidFill>
          <a:ln w="10160">
            <a:solidFill>
              <a:srgbClr val="BE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836408" y="1828800"/>
            <a:ext cx="295351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BE7014"/>
                </a:solidFill>
                <a:latin typeface="Arial"/>
              </a:rPr>
              <a:t>SUPPORT + MANUAL NAVIGATION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836408" y="2231136"/>
            <a:ext cx="2953512" cy="256032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Useful context and escalation</a:t>
            </a:r>
          </a:p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Can handle complex cases</a:t>
            </a:r>
          </a:p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User still hunts through Settings</a:t>
            </a:r>
          </a:p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Ordering and exact navigation remain manual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68680" y="5230368"/>
            <a:ext cx="10058400" cy="841248"/>
          </a:xfrm>
          <a:prstGeom prst="roundRect">
            <a:avLst/>
          </a:prstGeom>
          <a:solidFill>
            <a:srgbClr val="6D28D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051560" y="5358384"/>
            <a:ext cx="1691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THE MISSING LAYER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761488" y="5321808"/>
            <a:ext cx="781812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Understand → constrain → order by risk → validate → navigate to the supported screen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700" b="1">
                <a:solidFill>
                  <a:srgbClr val="704EA6"/>
                </a:solidFill>
                <a:latin typeface="Arial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15" name="TextBox 114"/>
          <p:cNvSpPr txBox="1"/>
          <p:nvPr/>
        </p:nvSpPr>
        <p:spPr>
          <a:xfrm>
            <a:off x="868680" y="1170432"/>
            <a:ext cx="10058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63637E"/>
                </a:solidFill>
                <a:latin typeface="Arial"/>
              </a:rPr>
              <a:t>Neuro-symbolic pipeline — AI understands; symbolic reasoning controls.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77240" y="1783080"/>
            <a:ext cx="157276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50392" y="1938528"/>
            <a:ext cx="142646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Arial"/>
              </a:rPr>
              <a:t>USER COMPLAINT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50392" y="2304288"/>
            <a:ext cx="1426464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69" b="0">
                <a:solidFill>
                  <a:srgbClr val="63637E"/>
                </a:solidFill>
                <a:latin typeface="Arial"/>
              </a:rPr>
              <a:t>Natural language
+ device / One UI context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350008" y="2221992"/>
            <a:ext cx="182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6D28D9"/>
                </a:solidFill>
                <a:latin typeface="Arial"/>
              </a:rPr>
              <a:t>→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542032" y="1783080"/>
            <a:ext cx="157276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615184" y="1938528"/>
            <a:ext cx="142646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Arial"/>
              </a:rPr>
              <a:t>NEURAL UNDERSTANDING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615184" y="2304288"/>
            <a:ext cx="1426464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69" b="0">
                <a:solidFill>
                  <a:srgbClr val="63637E"/>
                </a:solidFill>
                <a:latin typeface="Arial"/>
              </a:rPr>
              <a:t>Intent · domain · symptoms
+ confidence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114800" y="2221992"/>
            <a:ext cx="182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6D28D9"/>
                </a:solidFill>
                <a:latin typeface="Arial"/>
              </a:rPr>
              <a:t>→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306824" y="1783080"/>
            <a:ext cx="157276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379976" y="1938528"/>
            <a:ext cx="142646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Arial"/>
              </a:rPr>
              <a:t>CANONICAL ID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379976" y="2304288"/>
            <a:ext cx="1426464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69" b="0">
                <a:solidFill>
                  <a:srgbClr val="63637E"/>
                </a:solidFill>
                <a:latin typeface="Arial"/>
              </a:rPr>
              <a:t>One supported scenario
or clarification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879592" y="2221992"/>
            <a:ext cx="182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6D28D9"/>
                </a:solidFill>
                <a:latin typeface="Arial"/>
              </a:rPr>
              <a:t>→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071616" y="1783080"/>
            <a:ext cx="157276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144768" y="1938528"/>
            <a:ext cx="142646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Arial"/>
              </a:rPr>
              <a:t>CATALOG / RULES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44768" y="2304288"/>
            <a:ext cx="1426464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69" b="0">
                <a:solidFill>
                  <a:srgbClr val="63637E"/>
                </a:solidFill>
                <a:latin typeface="Arial"/>
              </a:rPr>
              <a:t>Known actions · risk
+ ordering constraints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644383" y="2221992"/>
            <a:ext cx="182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6D28D9"/>
                </a:solidFill>
                <a:latin typeface="Arial"/>
              </a:rPr>
              <a:t>→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836408" y="1783080"/>
            <a:ext cx="157276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909560" y="1938528"/>
            <a:ext cx="142646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Arial"/>
              </a:rPr>
              <a:t>PLANNER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09560" y="2304288"/>
            <a:ext cx="1426464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69" b="0">
                <a:solidFill>
                  <a:srgbClr val="63637E"/>
                </a:solidFill>
                <a:latin typeface="Arial"/>
              </a:rPr>
              <a:t>Ordered, risk-aware
troubleshooting steps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409176" y="2221992"/>
            <a:ext cx="182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6D28D9"/>
                </a:solidFill>
                <a:latin typeface="Arial"/>
              </a:rPr>
              <a:t>→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601200" y="1783080"/>
            <a:ext cx="1572768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9674352" y="1938528"/>
            <a:ext cx="142646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6D28D9"/>
                </a:solidFill>
                <a:latin typeface="Arial"/>
              </a:rPr>
              <a:t>VALIDATOR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674352" y="2304288"/>
            <a:ext cx="1426464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869" b="0">
                <a:solidFill>
                  <a:srgbClr val="63637E"/>
                </a:solidFill>
                <a:latin typeface="Arial"/>
              </a:rPr>
              <a:t>Schema + action/deeplink
consistency checks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68680" y="3310128"/>
            <a:ext cx="10058400" cy="658368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F6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024128" y="3429000"/>
            <a:ext cx="16002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6D28D9"/>
                </a:solidFill>
                <a:latin typeface="Arial"/>
              </a:rPr>
              <a:t>GUARDRAIL PRINCIPLE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679192" y="3383280"/>
            <a:ext cx="797356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142B"/>
                </a:solidFill>
                <a:latin typeface="Arial"/>
              </a:rPr>
              <a:t>The LLM interprets language; catalog + symbolic rules + validator decide what can reach the user.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68680" y="4315968"/>
            <a:ext cx="100584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dirty="0">
                <a:solidFill>
                  <a:srgbClr val="704EA6"/>
                </a:solidFill>
                <a:latin typeface="Arial"/>
              </a:rPr>
              <a:t>TECHNICAL ARCHITECTURE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68680" y="4754880"/>
            <a:ext cx="173736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914400" y="4892040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14142B"/>
                </a:solidFill>
                <a:latin typeface="Arial"/>
              </a:rPr>
              <a:t>React Frontend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852928" y="4754880"/>
            <a:ext cx="173736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898648" y="4892040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14142B"/>
                </a:solidFill>
                <a:latin typeface="Arial"/>
              </a:rPr>
              <a:t>FastAPI Backend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4837176" y="4754880"/>
            <a:ext cx="173736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4882896" y="4892040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14142B"/>
                </a:solidFill>
                <a:latin typeface="Arial"/>
              </a:rPr>
              <a:t>Neural Understanding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821424" y="4754880"/>
            <a:ext cx="173736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867144" y="4892040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14142B"/>
                </a:solidFill>
                <a:latin typeface="Arial"/>
              </a:rPr>
              <a:t>Scenario Planner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805672" y="4754880"/>
            <a:ext cx="1737360" cy="594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8851392" y="4892040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50" b="1">
                <a:solidFill>
                  <a:srgbClr val="14142B"/>
                </a:solidFill>
                <a:latin typeface="Arial"/>
              </a:rPr>
              <a:t>Validator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68680" y="5559552"/>
            <a:ext cx="10058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>
                <a:solidFill>
                  <a:srgbClr val="63637E"/>
                </a:solidFill>
                <a:latin typeface="Arial"/>
              </a:rPr>
              <a:t>Supporting: Pydantic schemas  ·  fallback handling  ·  cache  ·  metrics  ·  Samsung / Android deep links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700" b="1">
                <a:solidFill>
                  <a:srgbClr val="704EA6"/>
                </a:solidFill>
                <a:latin typeface="Arial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68680" y="1143000"/>
            <a:ext cx="101498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14142B"/>
                </a:solidFill>
                <a:latin typeface="Arial"/>
              </a:rPr>
              <a:t>Example complaint: “My phone gets hot and the battery dies really fast.”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68680" y="1719072"/>
            <a:ext cx="235915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ounded Rectangle 122"/>
          <p:cNvSpPr/>
          <p:nvPr/>
        </p:nvSpPr>
        <p:spPr>
          <a:xfrm>
            <a:off x="1014983" y="1874519"/>
            <a:ext cx="502920" cy="292608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F6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>
                <a:solidFill>
                  <a:srgbClr val="6D28D9"/>
                </a:solidFill>
                <a:latin typeface="Arial"/>
              </a:rPr>
              <a:t>01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14983" y="2286000"/>
            <a:ext cx="20299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6D28D9"/>
                </a:solidFill>
                <a:latin typeface="Arial"/>
              </a:rPr>
              <a:t>UNDERSTAND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14983" y="2688336"/>
            <a:ext cx="2029968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63637E"/>
                </a:solidFill>
                <a:latin typeface="Arial"/>
              </a:rPr>
              <a:t>Complaint → Battery domain → canonical issue
Confidence gate + structured output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456432" y="1719072"/>
            <a:ext cx="235915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3602736" y="1874519"/>
            <a:ext cx="502920" cy="292608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F6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>
                <a:solidFill>
                  <a:srgbClr val="6D28D9"/>
                </a:solidFill>
                <a:latin typeface="Arial"/>
              </a:rPr>
              <a:t>02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602736" y="2286000"/>
            <a:ext cx="20299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6D28D9"/>
                </a:solidFill>
                <a:latin typeface="Arial"/>
              </a:rPr>
              <a:t>CLARIFY IF NEEDED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602736" y="2688336"/>
            <a:ext cx="2029968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63637E"/>
                </a:solidFill>
                <a:latin typeface="Arial"/>
              </a:rPr>
              <a:t>Low confidence or multiple issues
Ask one focused question; do not guess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044184" y="1719072"/>
            <a:ext cx="235915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6190488" y="1874519"/>
            <a:ext cx="502920" cy="292608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F6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>
                <a:solidFill>
                  <a:srgbClr val="6D28D9"/>
                </a:solidFill>
                <a:latin typeface="Arial"/>
              </a:rPr>
              <a:t>03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190488" y="2286000"/>
            <a:ext cx="20299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6D28D9"/>
                </a:solidFill>
                <a:latin typeface="Arial"/>
              </a:rPr>
              <a:t>PLAN SAFELY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190488" y="2688336"/>
            <a:ext cx="2029968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63637E"/>
                </a:solidFill>
                <a:latin typeface="Arial"/>
              </a:rPr>
              <a:t>Known scenario → supported actions → risk-aware order
Low-risk steps first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631936" y="1719072"/>
            <a:ext cx="2359152" cy="2148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8778240" y="1874519"/>
            <a:ext cx="502920" cy="292608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F6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>
                <a:solidFill>
                  <a:srgbClr val="6D28D9"/>
                </a:solidFill>
                <a:latin typeface="Arial"/>
              </a:rPr>
              <a:t>04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778240" y="2286000"/>
            <a:ext cx="2029968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6D28D9"/>
                </a:solidFill>
                <a:latin typeface="Arial"/>
              </a:rPr>
              <a:t>VALIDATE &amp; SERVE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778240" y="2688336"/>
            <a:ext cx="2029968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>
                <a:solidFill>
                  <a:srgbClr val="63637E"/>
                </a:solidFill>
                <a:latin typeface="Arial"/>
              </a:rPr>
              <a:t>Schema + consistency checks
Only validated output reaches the API / cache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68680" y="4224528"/>
            <a:ext cx="10058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704EA6"/>
                </a:solidFill>
                <a:latin typeface="Arial"/>
              </a:rPr>
              <a:t>CURRENT PROTOTYPE PROOF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1143000" y="4681728"/>
            <a:ext cx="24688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252728" y="4791456"/>
            <a:ext cx="224942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>
                <a:solidFill>
                  <a:srgbClr val="6D28D9"/>
                </a:solidFill>
                <a:latin typeface="Arial"/>
              </a:rPr>
              <a:t>6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52728" y="5230368"/>
            <a:ext cx="2249424" cy="42976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63637E"/>
                </a:solidFill>
                <a:latin typeface="Arial"/>
              </a:rPr>
              <a:t>supported canonical issue types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3977639" y="4681728"/>
            <a:ext cx="24688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4087368" y="4791456"/>
            <a:ext cx="224942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>
                <a:solidFill>
                  <a:srgbClr val="6D28D9"/>
                </a:solidFill>
                <a:latin typeface="Arial"/>
              </a:rPr>
              <a:t>0.70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087368" y="5230368"/>
            <a:ext cx="2249424" cy="42976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63637E"/>
                </a:solidFill>
                <a:latin typeface="Arial"/>
              </a:rPr>
              <a:t>confidence gate before planning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812280" y="4681728"/>
            <a:ext cx="24688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6922008" y="4791456"/>
            <a:ext cx="2249424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200" b="1">
                <a:solidFill>
                  <a:srgbClr val="6D28D9"/>
                </a:solidFill>
                <a:latin typeface="Arial"/>
              </a:rPr>
              <a:t>9 / 9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922008" y="5230368"/>
            <a:ext cx="2249424" cy="42976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63637E"/>
                </a:solidFill>
                <a:latin typeface="Arial"/>
              </a:rPr>
              <a:t>current understanding tests passing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68680" y="5897880"/>
            <a:ext cx="10058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>
                <a:solidFill>
                  <a:srgbClr val="63637E"/>
                </a:solidFill>
                <a:latin typeface="Arial"/>
              </a:rPr>
              <a:t>Safety behavior: clarification for low confidence  ·  multiple-issue handling  ·  keyword fallback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700" b="1">
                <a:solidFill>
                  <a:srgbClr val="704EA6"/>
                </a:solidFill>
                <a:latin typeface="Arial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68680" y="1143000"/>
            <a:ext cx="10149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63637E"/>
                </a:solidFill>
                <a:latin typeface="Arial"/>
              </a:rPr>
              <a:t>Technology choices support a controlled, testable troubleshooting pipeline.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68680" y="1755648"/>
            <a:ext cx="2359152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868680" y="1755648"/>
            <a:ext cx="2359152" cy="73152"/>
          </a:xfrm>
          <a:prstGeom prst="roundRect">
            <a:avLst/>
          </a:prstGeom>
          <a:solidFill>
            <a:srgbClr val="6D28D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14983" y="1920240"/>
            <a:ext cx="206654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6D28D9"/>
                </a:solidFill>
                <a:latin typeface="Arial"/>
              </a:rPr>
              <a:t>FRONTEND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14983" y="2322576"/>
            <a:ext cx="2066544" cy="23774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React / Create React App</a:t>
            </a:r>
          </a:p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Complaint + plan UI</a:t>
            </a:r>
          </a:p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Device / One UI context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456432" y="1755648"/>
            <a:ext cx="2359152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3456432" y="1755648"/>
            <a:ext cx="2359152" cy="73152"/>
          </a:xfrm>
          <a:prstGeom prst="roundRect">
            <a:avLst/>
          </a:prstGeom>
          <a:solidFill>
            <a:srgbClr val="3EA9A9"/>
          </a:solidFill>
          <a:ln w="10160">
            <a:solidFill>
              <a:srgbClr val="3E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3602736" y="1920240"/>
            <a:ext cx="206654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3EA9A9"/>
                </a:solidFill>
                <a:latin typeface="Arial"/>
              </a:rPr>
              <a:t>BACKEND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602736" y="2322576"/>
            <a:ext cx="2066544" cy="23774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Python</a:t>
            </a:r>
          </a:p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FastAPI REST endpoints</a:t>
            </a:r>
          </a:p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Scenario planner + validation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044184" y="1755648"/>
            <a:ext cx="2359152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ounded Rectangle 136"/>
          <p:cNvSpPr/>
          <p:nvPr/>
        </p:nvSpPr>
        <p:spPr>
          <a:xfrm>
            <a:off x="6044184" y="1755648"/>
            <a:ext cx="2359152" cy="73152"/>
          </a:xfrm>
          <a:prstGeom prst="roundRect">
            <a:avLst/>
          </a:prstGeom>
          <a:solidFill>
            <a:srgbClr val="6D28D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190488" y="1920240"/>
            <a:ext cx="206654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6D28D9"/>
                </a:solidFill>
                <a:latin typeface="Arial"/>
              </a:rPr>
              <a:t>NEURAL UNDERSTANDING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190488" y="2322576"/>
            <a:ext cx="2066544" cy="23774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Groq API</a:t>
            </a:r>
          </a:p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GPT-OSS 20B</a:t>
            </a:r>
          </a:p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Pydantic structured output</a:t>
            </a:r>
          </a:p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Keyword fallback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631936" y="1755648"/>
            <a:ext cx="2359152" cy="3063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ounded Rectangle 140"/>
          <p:cNvSpPr/>
          <p:nvPr/>
        </p:nvSpPr>
        <p:spPr>
          <a:xfrm>
            <a:off x="8631936" y="1755648"/>
            <a:ext cx="2359152" cy="73152"/>
          </a:xfrm>
          <a:prstGeom prst="roundRect">
            <a:avLst/>
          </a:prstGeom>
          <a:solidFill>
            <a:srgbClr val="1C874E"/>
          </a:solidFill>
          <a:ln w="10160">
            <a:solidFill>
              <a:srgbClr val="1C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8778240" y="1920240"/>
            <a:ext cx="206654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1C874E"/>
                </a:solidFill>
                <a:latin typeface="Arial"/>
              </a:rPr>
              <a:t>RELIABILITY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778240" y="2322576"/>
            <a:ext cx="2066544" cy="237744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Schema validation</a:t>
            </a:r>
          </a:p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Confidence gating</a:t>
            </a:r>
          </a:p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Cache / metrics</a:t>
            </a:r>
          </a:p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Samsung / Android deep links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868680" y="5166360"/>
            <a:ext cx="10058400" cy="749808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F6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1051560" y="5340096"/>
            <a:ext cx="1508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>
                <a:solidFill>
                  <a:srgbClr val="6D28D9"/>
                </a:solidFill>
                <a:latin typeface="Arial"/>
              </a:rPr>
              <a:t>DESIGN PRINCIPLE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670048" y="5285232"/>
            <a:ext cx="7973568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14142B"/>
                </a:solidFill>
                <a:latin typeface="Arial"/>
              </a:rPr>
              <a:t>The LLM produces a constrained interpretation; everything after canonical_id is rule-, catalog- and validation-driven.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700" b="1">
                <a:solidFill>
                  <a:srgbClr val="704EA6"/>
                </a:solidFill>
                <a:latin typeface="Arial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68680" y="1143000"/>
            <a:ext cx="10149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63637E"/>
                </a:solidFill>
                <a:latin typeface="Arial"/>
              </a:rPr>
              <a:t>Who benefits — and how the guided experience reduces troubleshooting friction.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68680" y="1664208"/>
            <a:ext cx="315468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868680" y="1664208"/>
            <a:ext cx="3154680" cy="73152"/>
          </a:xfrm>
          <a:prstGeom prst="roundRect">
            <a:avLst/>
          </a:prstGeom>
          <a:solidFill>
            <a:srgbClr val="6D28D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014983" y="1828800"/>
            <a:ext cx="286207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6D28D9"/>
                </a:solidFill>
                <a:latin typeface="Arial"/>
              </a:rPr>
              <a:t>END USERS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14983" y="2231136"/>
            <a:ext cx="2862072" cy="1371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Describe problems in their own words</a:t>
            </a:r>
          </a:p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Receive a clear, ordered plan</a:t>
            </a:r>
          </a:p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Avoid repeated Settings searches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224528" y="1664208"/>
            <a:ext cx="315468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4224528" y="1664208"/>
            <a:ext cx="3154680" cy="73152"/>
          </a:xfrm>
          <a:prstGeom prst="roundRect">
            <a:avLst/>
          </a:prstGeom>
          <a:solidFill>
            <a:srgbClr val="3EA9A9"/>
          </a:solidFill>
          <a:ln w="10160">
            <a:solidFill>
              <a:srgbClr val="3E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4370832" y="1828800"/>
            <a:ext cx="286207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3EA9A9"/>
                </a:solidFill>
                <a:latin typeface="Arial"/>
              </a:rPr>
              <a:t>GUIDED EXPERIENCE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370832" y="2231136"/>
            <a:ext cx="2862072" cy="1371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One structured troubleshooting flow</a:t>
            </a:r>
          </a:p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Low-confidence complaints trigger clarification</a:t>
            </a:r>
          </a:p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Validated output before presentation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580375" y="1664208"/>
            <a:ext cx="315468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7580375" y="1664208"/>
            <a:ext cx="3154680" cy="73152"/>
          </a:xfrm>
          <a:prstGeom prst="roundRect">
            <a:avLst/>
          </a:prstGeom>
          <a:solidFill>
            <a:srgbClr val="1C874E"/>
          </a:solidFill>
          <a:ln w="10160">
            <a:solidFill>
              <a:srgbClr val="1C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7726679" y="1828800"/>
            <a:ext cx="286207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>
                <a:solidFill>
                  <a:srgbClr val="1C874E"/>
                </a:solidFill>
                <a:latin typeface="Arial"/>
              </a:rPr>
              <a:t>SUPPORT / OPERATIONS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726679" y="2231136"/>
            <a:ext cx="2862072" cy="137160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Consistent scenario structure</a:t>
            </a:r>
          </a:p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Known actions can be audited</a:t>
            </a:r>
          </a:p>
          <a:p>
            <a:pPr>
              <a:spcAft>
                <a:spcPts val="500"/>
              </a:spcAft>
              <a:defRPr sz="1150">
                <a:solidFill>
                  <a:srgbClr val="63637E"/>
                </a:solidFill>
                <a:latin typeface="Arial"/>
              </a:defRPr>
            </a:pPr>
            <a:r>
              <a:t>• Extensible catalog / planner model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68680" y="4160520"/>
            <a:ext cx="10058400" cy="1298448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F6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051560" y="4352544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Arial"/>
              </a:rPr>
              <a:t>USE CASE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578608" y="4297680"/>
            <a:ext cx="7955279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4142B"/>
                </a:solidFill>
                <a:latin typeface="Arial"/>
              </a:rPr>
              <a:t>Galaxy S24 · One UI 6.1
“Phone is slow / freezes after installing apps” → performance issue → ordered, validated plan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68680" y="5742432"/>
            <a:ext cx="10058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>
                <a:solidFill>
                  <a:srgbClr val="63637E"/>
                </a:solidFill>
                <a:latin typeface="Arial"/>
              </a:rPr>
              <a:t>Impact: less searching, clearer sequencing, stronger control over what troubleshooting actions are allowed.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700" b="1">
                <a:solidFill>
                  <a:srgbClr val="704EA6"/>
                </a:solidFill>
                <a:latin typeface="Arial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868680" y="1115568"/>
            <a:ext cx="10149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63637E"/>
                </a:solidFill>
                <a:latin typeface="Arial"/>
              </a:rPr>
              <a:t>What is new, what we have demonstrated, and what remains to be validated.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68680" y="1627632"/>
            <a:ext cx="315468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ounded Rectangle 140"/>
          <p:cNvSpPr/>
          <p:nvPr/>
        </p:nvSpPr>
        <p:spPr>
          <a:xfrm>
            <a:off x="868680" y="1627632"/>
            <a:ext cx="3154680" cy="73152"/>
          </a:xfrm>
          <a:prstGeom prst="roundRect">
            <a:avLst/>
          </a:prstGeom>
          <a:solidFill>
            <a:srgbClr val="6D28D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14983" y="1792224"/>
            <a:ext cx="286207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6D28D9"/>
                </a:solidFill>
                <a:latin typeface="Arial"/>
              </a:rPr>
              <a:t>INNOVATION HIGHLIGHTS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14983" y="2194560"/>
            <a:ext cx="2862072" cy="2651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3637E"/>
                </a:solidFill>
                <a:latin typeface="Arial"/>
              </a:defRPr>
            </a:pPr>
            <a:r>
              <a:t>• Neural understanding + symbolic control</a:t>
            </a:r>
          </a:p>
          <a:p>
            <a:pPr>
              <a:spcAft>
                <a:spcPts val="500"/>
              </a:spcAft>
              <a:defRPr sz="1100">
                <a:solidFill>
                  <a:srgbClr val="63637E"/>
                </a:solidFill>
                <a:latin typeface="Arial"/>
              </a:defRPr>
            </a:pPr>
            <a:r>
              <a:t>• Canonical issue contract prevents free-form downstream actions</a:t>
            </a:r>
          </a:p>
          <a:p>
            <a:pPr>
              <a:spcAft>
                <a:spcPts val="500"/>
              </a:spcAft>
              <a:defRPr sz="1100">
                <a:solidFill>
                  <a:srgbClr val="63637E"/>
                </a:solidFill>
                <a:latin typeface="Arial"/>
              </a:defRPr>
            </a:pPr>
            <a:r>
              <a:t>• Confidence-gated clarification</a:t>
            </a:r>
          </a:p>
          <a:p>
            <a:pPr>
              <a:spcAft>
                <a:spcPts val="500"/>
              </a:spcAft>
              <a:defRPr sz="1100">
                <a:solidFill>
                  <a:srgbClr val="63637E"/>
                </a:solidFill>
                <a:latin typeface="Arial"/>
              </a:defRPr>
            </a:pPr>
            <a:r>
              <a:t>• Risk-aware ordering and validation</a:t>
            </a:r>
          </a:p>
          <a:p>
            <a:pPr>
              <a:spcAft>
                <a:spcPts val="500"/>
              </a:spcAft>
              <a:defRPr sz="1100">
                <a:solidFill>
                  <a:srgbClr val="63637E"/>
                </a:solidFill>
                <a:latin typeface="Arial"/>
              </a:defRPr>
            </a:pPr>
            <a:r>
              <a:t>• Catalog-driven extensibility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224528" y="1627632"/>
            <a:ext cx="315468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ounded Rectangle 144"/>
          <p:cNvSpPr/>
          <p:nvPr/>
        </p:nvSpPr>
        <p:spPr>
          <a:xfrm>
            <a:off x="4224528" y="1627632"/>
            <a:ext cx="3154680" cy="73152"/>
          </a:xfrm>
          <a:prstGeom prst="roundRect">
            <a:avLst/>
          </a:prstGeom>
          <a:solidFill>
            <a:srgbClr val="1C874E"/>
          </a:solidFill>
          <a:ln w="10160">
            <a:solidFill>
              <a:srgbClr val="1C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4370832" y="1792224"/>
            <a:ext cx="286207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>
                <a:solidFill>
                  <a:srgbClr val="1C874E"/>
                </a:solidFill>
                <a:latin typeface="Arial"/>
              </a:rPr>
              <a:t>RESULTS WE CAN SUPPORT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370832" y="2194560"/>
            <a:ext cx="2862072" cy="2651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3637E"/>
                </a:solidFill>
                <a:latin typeface="Arial"/>
              </a:defRPr>
            </a:pPr>
            <a:r>
              <a:t>• 6 canonical issue types defined</a:t>
            </a:r>
          </a:p>
          <a:p>
            <a:pPr>
              <a:spcAft>
                <a:spcPts val="500"/>
              </a:spcAft>
              <a:defRPr sz="1100">
                <a:solidFill>
                  <a:srgbClr val="63637E"/>
                </a:solidFill>
                <a:latin typeface="Arial"/>
              </a:defRPr>
            </a:pPr>
            <a:r>
              <a:t>• 0.70 confidence threshold enforced</a:t>
            </a:r>
          </a:p>
          <a:p>
            <a:pPr>
              <a:spcAft>
                <a:spcPts val="500"/>
              </a:spcAft>
              <a:defRPr sz="1100">
                <a:solidFill>
                  <a:srgbClr val="63637E"/>
                </a:solidFill>
                <a:latin typeface="Arial"/>
              </a:defRPr>
            </a:pPr>
            <a:r>
              <a:t>• 9/9 current understanding tests pass</a:t>
            </a:r>
          </a:p>
          <a:p>
            <a:pPr>
              <a:spcAft>
                <a:spcPts val="500"/>
              </a:spcAft>
              <a:defRPr sz="1100">
                <a:solidFill>
                  <a:srgbClr val="63637E"/>
                </a:solidFill>
                <a:latin typeface="Arial"/>
              </a:defRPr>
            </a:pPr>
            <a:r>
              <a:t>• Multiple-problem + clarification flows tested</a:t>
            </a:r>
          </a:p>
          <a:p>
            <a:pPr>
              <a:spcAft>
                <a:spcPts val="500"/>
              </a:spcAft>
              <a:defRPr sz="1100">
                <a:solidFill>
                  <a:srgbClr val="63637E"/>
                </a:solidFill>
                <a:latin typeface="Arial"/>
              </a:defRPr>
            </a:pPr>
            <a:r>
              <a:t>• Keyword fallback works when the model fails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580375" y="1627632"/>
            <a:ext cx="3154680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7580375" y="1627632"/>
            <a:ext cx="3154680" cy="73152"/>
          </a:xfrm>
          <a:prstGeom prst="roundRect">
            <a:avLst/>
          </a:prstGeom>
          <a:solidFill>
            <a:srgbClr val="BE7014"/>
          </a:solidFill>
          <a:ln w="10160">
            <a:solidFill>
              <a:srgbClr val="BE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7726679" y="1792224"/>
            <a:ext cx="2862072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>
                <a:solidFill>
                  <a:srgbClr val="BE7014"/>
                </a:solidFill>
                <a:latin typeface="Arial"/>
              </a:rPr>
              <a:t>LIMITATIONS / HONEST STATUS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726679" y="2194560"/>
            <a:ext cx="2862072" cy="2651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Current neural prototype is narrower than the full 10K+ vision</a:t>
            </a:r>
          </a:p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Full deeplink/backend integration needs device / One UI maintenance</a:t>
            </a:r>
          </a:p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&lt;300 ms is a target, not a measured benchmark claimed here</a:t>
            </a:r>
          </a:p>
          <a:p>
            <a:pPr>
              <a:spcAft>
                <a:spcPts val="500"/>
              </a:spcAft>
              <a:defRPr sz="1050">
                <a:solidFill>
                  <a:srgbClr val="63637E"/>
                </a:solidFill>
                <a:latin typeface="Arial"/>
              </a:defRPr>
            </a:pPr>
            <a:r>
              <a:t>• High-risk actions require additional gating / review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868680" y="5230368"/>
            <a:ext cx="10058400" cy="713232"/>
          </a:xfrm>
          <a:prstGeom prst="roundRect">
            <a:avLst/>
          </a:prstGeom>
          <a:solidFill>
            <a:srgbClr val="6D28D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051560" y="5376672"/>
            <a:ext cx="969264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WE CONTAIN HALLUCINATION — WE DO NOT CLAIM TO ELIMINATE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700" b="1">
                <a:solidFill>
                  <a:srgbClr val="704EA6"/>
                </a:solidFill>
                <a:latin typeface="Arial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868680" y="1143000"/>
            <a:ext cx="10149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63637E"/>
                </a:solidFill>
                <a:latin typeface="Arial"/>
              </a:rPr>
              <a:t>Scale the catalog and integration without turning every new scenario into new prompt engineering.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68680" y="1783080"/>
            <a:ext cx="2359152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ounded Rectangle 146"/>
          <p:cNvSpPr/>
          <p:nvPr/>
        </p:nvSpPr>
        <p:spPr>
          <a:xfrm>
            <a:off x="868680" y="1783080"/>
            <a:ext cx="2359152" cy="73152"/>
          </a:xfrm>
          <a:prstGeom prst="roundRect">
            <a:avLst/>
          </a:prstGeom>
          <a:solidFill>
            <a:srgbClr val="1C874E"/>
          </a:solidFill>
          <a:ln w="10160">
            <a:solidFill>
              <a:srgbClr val="1C8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014983" y="1947672"/>
            <a:ext cx="206654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1">
                <a:solidFill>
                  <a:srgbClr val="1C874E"/>
                </a:solidFill>
                <a:latin typeface="Arial"/>
              </a:rPr>
              <a:t>NOW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14983" y="2350008"/>
            <a:ext cx="2066544" cy="2651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63637E"/>
                </a:solidFill>
                <a:latin typeface="Arial"/>
              </a:defRPr>
            </a:pPr>
            <a:r>
              <a:t>• Harden integrated backend</a:t>
            </a:r>
          </a:p>
          <a:p>
            <a:pPr>
              <a:spcAft>
                <a:spcPts val="500"/>
              </a:spcAft>
              <a:defRPr sz="1080">
                <a:solidFill>
                  <a:srgbClr val="63637E"/>
                </a:solidFill>
                <a:latin typeface="Arial"/>
              </a:defRPr>
            </a:pPr>
            <a:r>
              <a:t>• Expand high-frequency scenarios</a:t>
            </a:r>
          </a:p>
          <a:p>
            <a:pPr>
              <a:spcAft>
                <a:spcPts val="500"/>
              </a:spcAft>
              <a:defRPr sz="1080">
                <a:solidFill>
                  <a:srgbClr val="63637E"/>
                </a:solidFill>
                <a:latin typeface="Arial"/>
              </a:defRPr>
            </a:pPr>
            <a:r>
              <a:t>• Add device / One UI metadata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456432" y="1783080"/>
            <a:ext cx="2359152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ounded Rectangle 150"/>
          <p:cNvSpPr/>
          <p:nvPr/>
        </p:nvSpPr>
        <p:spPr>
          <a:xfrm>
            <a:off x="3456432" y="1783080"/>
            <a:ext cx="2359152" cy="73152"/>
          </a:xfrm>
          <a:prstGeom prst="roundRect">
            <a:avLst/>
          </a:prstGeom>
          <a:solidFill>
            <a:srgbClr val="6D28D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602736" y="1947672"/>
            <a:ext cx="206654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1">
                <a:solidFill>
                  <a:srgbClr val="6D28D9"/>
                </a:solidFill>
                <a:latin typeface="Arial"/>
              </a:rPr>
              <a:t>NEXT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602736" y="2350008"/>
            <a:ext cx="2066544" cy="2651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63637E"/>
                </a:solidFill>
                <a:latin typeface="Arial"/>
              </a:defRPr>
            </a:pPr>
            <a:r>
              <a:t>• Complete deeplink catalog + resolver</a:t>
            </a:r>
          </a:p>
          <a:p>
            <a:pPr>
              <a:spcAft>
                <a:spcPts val="500"/>
              </a:spcAft>
              <a:defRPr sz="1080">
                <a:solidFill>
                  <a:srgbClr val="63637E"/>
                </a:solidFill>
                <a:latin typeface="Arial"/>
              </a:defRPr>
            </a:pPr>
            <a:r>
              <a:t>• Integrate planner, validator and cache</a:t>
            </a:r>
          </a:p>
          <a:p>
            <a:pPr>
              <a:spcAft>
                <a:spcPts val="500"/>
              </a:spcAft>
              <a:defRPr sz="1080">
                <a:solidFill>
                  <a:srgbClr val="63637E"/>
                </a:solidFill>
                <a:latin typeface="Arial"/>
              </a:defRPr>
            </a:pPr>
            <a:r>
              <a:t>• Evaluate paraphrase generalization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044184" y="1783080"/>
            <a:ext cx="2359152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ounded Rectangle 154"/>
          <p:cNvSpPr/>
          <p:nvPr/>
        </p:nvSpPr>
        <p:spPr>
          <a:xfrm>
            <a:off x="6044184" y="1783080"/>
            <a:ext cx="2359152" cy="73152"/>
          </a:xfrm>
          <a:prstGeom prst="roundRect">
            <a:avLst/>
          </a:prstGeom>
          <a:solidFill>
            <a:srgbClr val="704EA6"/>
          </a:solidFill>
          <a:ln w="1016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190488" y="1947672"/>
            <a:ext cx="206654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1">
                <a:solidFill>
                  <a:srgbClr val="704EA6"/>
                </a:solidFill>
                <a:latin typeface="Arial"/>
              </a:rPr>
              <a:t>SCALE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190488" y="2350008"/>
            <a:ext cx="2066544" cy="2651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63637E"/>
                </a:solidFill>
                <a:latin typeface="Arial"/>
              </a:defRPr>
            </a:pPr>
            <a:r>
              <a:t>• Grow ontology toward 10K+ scenarios</a:t>
            </a:r>
          </a:p>
          <a:p>
            <a:pPr>
              <a:spcAft>
                <a:spcPts val="500"/>
              </a:spcAft>
              <a:defRPr sz="1080">
                <a:solidFill>
                  <a:srgbClr val="63637E"/>
                </a:solidFill>
                <a:latin typeface="Arial"/>
              </a:defRPr>
            </a:pPr>
            <a:r>
              <a:t>• Add Wi-Fi, performance, storage domains</a:t>
            </a:r>
          </a:p>
          <a:p>
            <a:pPr>
              <a:spcAft>
                <a:spcPts val="500"/>
              </a:spcAft>
              <a:defRPr sz="1080">
                <a:solidFill>
                  <a:srgbClr val="63637E"/>
                </a:solidFill>
                <a:latin typeface="Arial"/>
              </a:defRPr>
            </a:pPr>
            <a:r>
              <a:t>• Human override for high-risk actions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8631936" y="1783080"/>
            <a:ext cx="2359152" cy="3337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ounded Rectangle 158"/>
          <p:cNvSpPr/>
          <p:nvPr/>
        </p:nvSpPr>
        <p:spPr>
          <a:xfrm>
            <a:off x="8631936" y="1783080"/>
            <a:ext cx="2359152" cy="73152"/>
          </a:xfrm>
          <a:prstGeom prst="roundRect">
            <a:avLst/>
          </a:prstGeom>
          <a:solidFill>
            <a:srgbClr val="3EA9A9"/>
          </a:solidFill>
          <a:ln w="10160">
            <a:solidFill>
              <a:srgbClr val="3E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778240" y="1947672"/>
            <a:ext cx="206654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80" b="1">
                <a:solidFill>
                  <a:srgbClr val="3EA9A9"/>
                </a:solidFill>
                <a:latin typeface="Arial"/>
              </a:rPr>
              <a:t>VISION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78240" y="2350008"/>
            <a:ext cx="2066544" cy="2651760"/>
          </a:xfrm>
          <a:prstGeom prst="rect">
            <a:avLst/>
          </a:prstGeom>
          <a:noFill/>
        </p:spPr>
        <p:txBody>
          <a:bodyPr wrap="square" lIns="73152" tIns="27432" rIns="73152" bIns="27432">
            <a:spAutoFit/>
          </a:bodyPr>
          <a:lstStyle/>
          <a:p>
            <a:pPr>
              <a:spcAft>
                <a:spcPts val="500"/>
              </a:spcAft>
              <a:defRPr sz="1080">
                <a:solidFill>
                  <a:srgbClr val="63637E"/>
                </a:solidFill>
                <a:latin typeface="Arial"/>
              </a:defRPr>
            </a:pPr>
            <a:r>
              <a:t>• Outcome feedback loop</a:t>
            </a:r>
          </a:p>
          <a:p>
            <a:pPr>
              <a:spcAft>
                <a:spcPts val="500"/>
              </a:spcAft>
              <a:defRPr sz="1080">
                <a:solidFill>
                  <a:srgbClr val="63637E"/>
                </a:solidFill>
                <a:latin typeface="Arial"/>
              </a:defRPr>
            </a:pPr>
            <a:r>
              <a:t>• Continuous catalog improvement</a:t>
            </a:r>
          </a:p>
          <a:p>
            <a:pPr>
              <a:spcAft>
                <a:spcPts val="500"/>
              </a:spcAft>
              <a:defRPr sz="1080">
                <a:solidFill>
                  <a:srgbClr val="63637E"/>
                </a:solidFill>
                <a:latin typeface="Arial"/>
              </a:defRPr>
            </a:pPr>
            <a:r>
              <a:t>• Official support / SmartThings integration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68680" y="5413248"/>
            <a:ext cx="10058400" cy="566928"/>
          </a:xfrm>
          <a:prstGeom prst="roundRect">
            <a:avLst/>
          </a:prstGeom>
          <a:solidFill>
            <a:srgbClr val="F6F1FF"/>
          </a:solidFill>
          <a:ln w="10160">
            <a:solidFill>
              <a:srgbClr val="F6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1051560" y="5550408"/>
            <a:ext cx="96926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1">
                <a:solidFill>
                  <a:srgbClr val="14142B"/>
                </a:solidFill>
                <a:latin typeface="Arial"/>
              </a:rPr>
              <a:t>Growth model: new scenarios become catalog / ontology work rather than new prompt engineering.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700" b="1">
                <a:solidFill>
                  <a:srgbClr val="704EA6"/>
                </a:solidFill>
                <a:latin typeface="Arial"/>
              </a:rPr>
              <a:t>Brownie points slide (differentiation)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868680" y="1097280"/>
            <a:ext cx="10149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>
                <a:solidFill>
                  <a:srgbClr val="63637E"/>
                </a:solidFill>
                <a:latin typeface="Arial"/>
              </a:rPr>
              <a:t>Why TechSage PRISM is more controlled than a generic LLM troubleshooting chatbot.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68680" y="1600200"/>
            <a:ext cx="1691640" cy="438912"/>
          </a:xfrm>
          <a:prstGeom prst="rect">
            <a:avLst/>
          </a:prstGeom>
          <a:solidFill>
            <a:srgbClr val="704EA6"/>
          </a:solidFill>
          <a:ln w="1016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41832" y="1673352"/>
            <a:ext cx="1545336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ASPECT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560320" y="1600200"/>
            <a:ext cx="3703320" cy="438912"/>
          </a:xfrm>
          <a:prstGeom prst="rect">
            <a:avLst/>
          </a:prstGeom>
          <a:solidFill>
            <a:srgbClr val="704EA6"/>
          </a:solidFill>
          <a:ln w="10160">
            <a:solidFill>
              <a:srgbClr val="704E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2633472" y="1673352"/>
            <a:ext cx="3557015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GENERIC LLM CHATBOT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263640" y="1600200"/>
            <a:ext cx="4663440" cy="438912"/>
          </a:xfrm>
          <a:prstGeom prst="rect">
            <a:avLst/>
          </a:prstGeom>
          <a:solidFill>
            <a:srgbClr val="6D28D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6336792" y="1673352"/>
            <a:ext cx="4517136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TECHSAGE PRISM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68680" y="2039112"/>
            <a:ext cx="16916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41832" y="2103120"/>
            <a:ext cx="15453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0">
                <a:solidFill>
                  <a:srgbClr val="14142B"/>
                </a:solidFill>
                <a:latin typeface="Arial"/>
              </a:rPr>
              <a:t>Understanding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560320" y="2039112"/>
            <a:ext cx="37033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2633472" y="2103120"/>
            <a:ext cx="3557015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0">
                <a:solidFill>
                  <a:srgbClr val="14142B"/>
                </a:solidFill>
                <a:latin typeface="Arial"/>
              </a:rPr>
              <a:t>Free-form answer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263640" y="2039112"/>
            <a:ext cx="46634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6336792" y="2103120"/>
            <a:ext cx="45171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1">
                <a:solidFill>
                  <a:srgbClr val="6D28D9"/>
                </a:solidFill>
                <a:latin typeface="Arial"/>
              </a:rPr>
              <a:t>Canonical issue + structured contract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68680" y="2478024"/>
            <a:ext cx="1691640" cy="438912"/>
          </a:xfrm>
          <a:prstGeom prst="rect">
            <a:avLst/>
          </a:prstGeom>
          <a:solidFill>
            <a:srgbClr val="F6F1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941832" y="2542032"/>
            <a:ext cx="15453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0">
                <a:solidFill>
                  <a:srgbClr val="14142B"/>
                </a:solidFill>
                <a:latin typeface="Arial"/>
              </a:rPr>
              <a:t>Actions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560320" y="2478024"/>
            <a:ext cx="3703320" cy="438912"/>
          </a:xfrm>
          <a:prstGeom prst="rect">
            <a:avLst/>
          </a:prstGeom>
          <a:solidFill>
            <a:srgbClr val="F6F1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2633472" y="2542032"/>
            <a:ext cx="3557015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0">
                <a:solidFill>
                  <a:srgbClr val="14142B"/>
                </a:solidFill>
                <a:latin typeface="Arial"/>
              </a:rPr>
              <a:t>May invent unsupported steps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263640" y="2478024"/>
            <a:ext cx="4663440" cy="438912"/>
          </a:xfrm>
          <a:prstGeom prst="rect">
            <a:avLst/>
          </a:prstGeom>
          <a:solidFill>
            <a:srgbClr val="F6F1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6336792" y="2542032"/>
            <a:ext cx="45171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1">
                <a:solidFill>
                  <a:srgbClr val="6D28D9"/>
                </a:solidFill>
                <a:latin typeface="Arial"/>
              </a:rPr>
              <a:t>Only supported catalog actions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68680" y="2916936"/>
            <a:ext cx="16916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941832" y="2980944"/>
            <a:ext cx="15453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0">
                <a:solidFill>
                  <a:srgbClr val="14142B"/>
                </a:solidFill>
                <a:latin typeface="Arial"/>
              </a:rPr>
              <a:t>Deeplinks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560320" y="2916936"/>
            <a:ext cx="37033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2633472" y="2980944"/>
            <a:ext cx="3557015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0">
                <a:solidFill>
                  <a:srgbClr val="14142B"/>
                </a:solidFill>
                <a:latin typeface="Arial"/>
              </a:rPr>
              <a:t>Generic / uncertain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263640" y="2916936"/>
            <a:ext cx="46634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6336792" y="2980944"/>
            <a:ext cx="45171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1">
                <a:solidFill>
                  <a:srgbClr val="6D28D9"/>
                </a:solidFill>
                <a:latin typeface="Arial"/>
              </a:rPr>
              <a:t>Verified mapping only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868680" y="3355848"/>
            <a:ext cx="1691640" cy="438912"/>
          </a:xfrm>
          <a:prstGeom prst="rect">
            <a:avLst/>
          </a:prstGeom>
          <a:solidFill>
            <a:srgbClr val="F6F1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941832" y="3419856"/>
            <a:ext cx="15453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0">
                <a:solidFill>
                  <a:srgbClr val="14142B"/>
                </a:solidFill>
                <a:latin typeface="Arial"/>
              </a:rPr>
              <a:t>Ordering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560320" y="3355848"/>
            <a:ext cx="3703320" cy="438912"/>
          </a:xfrm>
          <a:prstGeom prst="rect">
            <a:avLst/>
          </a:prstGeom>
          <a:solidFill>
            <a:srgbClr val="F6F1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2633472" y="3419856"/>
            <a:ext cx="3557015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0">
                <a:solidFill>
                  <a:srgbClr val="14142B"/>
                </a:solidFill>
                <a:latin typeface="Arial"/>
              </a:rPr>
              <a:t>Not guaranteed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263640" y="3355848"/>
            <a:ext cx="4663440" cy="438912"/>
          </a:xfrm>
          <a:prstGeom prst="rect">
            <a:avLst/>
          </a:prstGeom>
          <a:solidFill>
            <a:srgbClr val="F6F1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336792" y="3419856"/>
            <a:ext cx="45171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1">
                <a:solidFill>
                  <a:srgbClr val="6D28D9"/>
                </a:solidFill>
                <a:latin typeface="Arial"/>
              </a:rPr>
              <a:t>Risk-aware symbolic ordering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68680" y="3794760"/>
            <a:ext cx="16916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941832" y="3858768"/>
            <a:ext cx="15453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0">
                <a:solidFill>
                  <a:srgbClr val="14142B"/>
                </a:solidFill>
                <a:latin typeface="Arial"/>
              </a:rPr>
              <a:t>Hallucination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560320" y="3794760"/>
            <a:ext cx="37033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2633472" y="3858768"/>
            <a:ext cx="3557015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0">
                <a:solidFill>
                  <a:srgbClr val="14142B"/>
                </a:solidFill>
                <a:latin typeface="Arial"/>
              </a:rPr>
              <a:t>Prompt-dependent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263640" y="3794760"/>
            <a:ext cx="46634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6336792" y="3858768"/>
            <a:ext cx="45171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1">
                <a:solidFill>
                  <a:srgbClr val="6D28D9"/>
                </a:solidFill>
                <a:latin typeface="Arial"/>
              </a:rPr>
              <a:t>Rules + validator + fail-closed design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868680" y="4233672"/>
            <a:ext cx="1691640" cy="438912"/>
          </a:xfrm>
          <a:prstGeom prst="rect">
            <a:avLst/>
          </a:prstGeom>
          <a:solidFill>
            <a:srgbClr val="F6F1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941832" y="4297680"/>
            <a:ext cx="15453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0">
                <a:solidFill>
                  <a:srgbClr val="14142B"/>
                </a:solidFill>
                <a:latin typeface="Arial"/>
              </a:rPr>
              <a:t>Repeated queries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560320" y="4233672"/>
            <a:ext cx="3703320" cy="438912"/>
          </a:xfrm>
          <a:prstGeom prst="rect">
            <a:avLst/>
          </a:prstGeom>
          <a:solidFill>
            <a:srgbClr val="F6F1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2633472" y="4297680"/>
            <a:ext cx="3557015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0">
                <a:solidFill>
                  <a:srgbClr val="14142B"/>
                </a:solidFill>
                <a:latin typeface="Arial"/>
              </a:rPr>
              <a:t>LLM called again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263640" y="4233672"/>
            <a:ext cx="4663440" cy="438912"/>
          </a:xfrm>
          <a:prstGeom prst="rect">
            <a:avLst/>
          </a:prstGeom>
          <a:solidFill>
            <a:srgbClr val="F6F1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6336792" y="4297680"/>
            <a:ext cx="45171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1">
                <a:solidFill>
                  <a:srgbClr val="6D28D9"/>
                </a:solidFill>
                <a:latin typeface="Arial"/>
              </a:rPr>
              <a:t>Validated-plan cache target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68680" y="4672583"/>
            <a:ext cx="16916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941832" y="4736592"/>
            <a:ext cx="15453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0">
                <a:solidFill>
                  <a:srgbClr val="14142B"/>
                </a:solidFill>
                <a:latin typeface="Arial"/>
              </a:rPr>
              <a:t>Scale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2560320" y="4672583"/>
            <a:ext cx="370332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2633472" y="4736592"/>
            <a:ext cx="3557015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0">
                <a:solidFill>
                  <a:srgbClr val="14142B"/>
                </a:solidFill>
                <a:latin typeface="Arial"/>
              </a:rPr>
              <a:t>Prompt engineering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263640" y="4672583"/>
            <a:ext cx="466344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6336792" y="4736592"/>
            <a:ext cx="4517136" cy="32918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30" b="1">
                <a:solidFill>
                  <a:srgbClr val="6D28D9"/>
                </a:solidFill>
                <a:latin typeface="Arial"/>
              </a:rPr>
              <a:t>Catalog / ontology driven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868680" y="5349240"/>
            <a:ext cx="10058400" cy="621792"/>
          </a:xfrm>
          <a:prstGeom prst="roundRect">
            <a:avLst/>
          </a:prstGeom>
          <a:solidFill>
            <a:srgbClr val="6D28D9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1051560" y="5468112"/>
            <a:ext cx="9692640" cy="3657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A chatbot generates advice. TechSage PRISM is designed to control what advice is allowed to become an action.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sz="2700" b="1">
                <a:solidFill>
                  <a:srgbClr val="704EA6"/>
                </a:solidFill>
                <a:latin typeface="Arial"/>
              </a:rPr>
              <a:t>Checklist- Updated on Public GitHub</a:t>
            </a:r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1051560" y="1508760"/>
            <a:ext cx="905256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ounded Rectangle 157"/>
          <p:cNvSpPr/>
          <p:nvPr/>
        </p:nvSpPr>
        <p:spPr>
          <a:xfrm>
            <a:off x="1234440" y="1673351"/>
            <a:ext cx="841248" cy="347472"/>
          </a:xfrm>
          <a:prstGeom prst="roundRect">
            <a:avLst/>
          </a:prstGeom>
          <a:solidFill>
            <a:srgbClr val="EBFAF2"/>
          </a:solidFill>
          <a:ln w="10160">
            <a:solidFill>
              <a:srgbClr val="EBF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 dirty="0">
                <a:solidFill>
                  <a:srgbClr val="1C874E"/>
                </a:solidFill>
                <a:latin typeface="Arial"/>
              </a:rPr>
              <a:t>READY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267712" y="1636776"/>
            <a:ext cx="4343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14142B"/>
                </a:solidFill>
                <a:latin typeface="Arial"/>
              </a:rPr>
              <a:t>WORKING PROTOTYPE CODE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58187" y="1636776"/>
            <a:ext cx="3663053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lang="en-IN" sz="1000" dirty="0">
                <a:hlinkClick r:id="rId3"/>
              </a:rPr>
              <a:t>https://</a:t>
            </a:r>
            <a:r>
              <a:rPr lang="en-IN" sz="1000" dirty="0" err="1">
                <a:hlinkClick r:id="rId3"/>
              </a:rPr>
              <a:t>github.com</a:t>
            </a:r>
            <a:r>
              <a:rPr lang="en-IN" sz="1000" dirty="0">
                <a:hlinkClick r:id="rId3"/>
              </a:rPr>
              <a:t>/</a:t>
            </a:r>
            <a:r>
              <a:rPr lang="en-IN" sz="1000" dirty="0" err="1">
                <a:hlinkClick r:id="rId3"/>
              </a:rPr>
              <a:t>bhupalamjathin-svg</a:t>
            </a:r>
            <a:r>
              <a:rPr lang="en-IN" sz="1000" dirty="0">
                <a:hlinkClick r:id="rId3"/>
              </a:rPr>
              <a:t>/prism-p2</a:t>
            </a:r>
            <a:r>
              <a:rPr sz="1000" b="0" dirty="0">
                <a:solidFill>
                  <a:srgbClr val="63637E"/>
                </a:solidFill>
                <a:latin typeface="Arial"/>
              </a:rPr>
              <a:t> </a:t>
            </a:r>
            <a:r>
              <a:rPr lang="en-US" sz="1000" dirty="0">
                <a:solidFill>
                  <a:srgbClr val="63637E"/>
                </a:solidFill>
              </a:rPr>
              <a:t> </a:t>
            </a:r>
            <a:endParaRPr sz="1000" b="0" dirty="0">
              <a:solidFill>
                <a:srgbClr val="63637E"/>
              </a:solidFill>
              <a:latin typeface="Arial"/>
            </a:endParaRPr>
          </a:p>
        </p:txBody>
      </p:sp>
      <p:sp>
        <p:nvSpPr>
          <p:cNvPr id="161" name="Rounded Rectangle 160"/>
          <p:cNvSpPr/>
          <p:nvPr/>
        </p:nvSpPr>
        <p:spPr>
          <a:xfrm>
            <a:off x="1051560" y="2450591"/>
            <a:ext cx="905256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ounded Rectangle 161"/>
          <p:cNvSpPr/>
          <p:nvPr/>
        </p:nvSpPr>
        <p:spPr>
          <a:xfrm>
            <a:off x="1234440" y="2615184"/>
            <a:ext cx="841248" cy="347472"/>
          </a:xfrm>
          <a:prstGeom prst="roundRect">
            <a:avLst/>
          </a:prstGeom>
          <a:solidFill>
            <a:srgbClr val="EBFAF2"/>
          </a:solidFill>
          <a:ln w="10160">
            <a:solidFill>
              <a:srgbClr val="EBF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>
                <a:solidFill>
                  <a:srgbClr val="1C874E"/>
                </a:solidFill>
                <a:latin typeface="Arial"/>
              </a:rPr>
              <a:t>READY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267712" y="2578608"/>
            <a:ext cx="4343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14142B"/>
                </a:solidFill>
                <a:latin typeface="Arial"/>
              </a:rPr>
              <a:t>README WITH REPRODUCIBLE SETUP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903720" y="2578608"/>
            <a:ext cx="2880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dirty="0">
                <a:solidFill>
                  <a:srgbClr val="63637E"/>
                </a:solidFill>
                <a:latin typeface="Arial"/>
              </a:rPr>
              <a:t>YES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051560" y="3392424"/>
            <a:ext cx="905256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000" dirty="0">
                <a:solidFill>
                  <a:srgbClr val="63637E"/>
                </a:solidFill>
                <a:hlinkClick r:id="rId4"/>
              </a:rPr>
              <a:t>https://</a:t>
            </a:r>
            <a:r>
              <a:rPr lang="en-US" sz="1000" dirty="0" err="1">
                <a:solidFill>
                  <a:srgbClr val="63637E"/>
                </a:solidFill>
                <a:hlinkClick r:id="rId4"/>
              </a:rPr>
              <a:t>drive.google.com</a:t>
            </a:r>
            <a:r>
              <a:rPr lang="en-US" sz="1000" dirty="0">
                <a:solidFill>
                  <a:srgbClr val="63637E"/>
                </a:solidFill>
                <a:hlinkClick r:id="rId4"/>
              </a:rPr>
              <a:t>/file/d/1Fycq6SgYgQpwuYQLcsMfIaL8aThC7XMw/view</a:t>
            </a:r>
            <a:r>
              <a:rPr lang="en-US" sz="1000" dirty="0">
                <a:solidFill>
                  <a:srgbClr val="63637E"/>
                </a:solidFill>
              </a:rPr>
              <a:t> </a:t>
            </a:r>
            <a:endParaRPr lang="en-IN" sz="1000" dirty="0">
              <a:solidFill>
                <a:srgbClr val="63637E"/>
              </a:solidFill>
            </a:endParaRPr>
          </a:p>
        </p:txBody>
      </p:sp>
      <p:sp>
        <p:nvSpPr>
          <p:cNvPr id="166" name="Rounded Rectangle 165"/>
          <p:cNvSpPr/>
          <p:nvPr/>
        </p:nvSpPr>
        <p:spPr>
          <a:xfrm>
            <a:off x="1234440" y="3557016"/>
            <a:ext cx="841248" cy="347472"/>
          </a:xfrm>
          <a:prstGeom prst="roundRect">
            <a:avLst/>
          </a:prstGeom>
          <a:solidFill>
            <a:srgbClr val="EBFAF2"/>
          </a:solidFill>
          <a:ln w="10160">
            <a:solidFill>
              <a:srgbClr val="EBF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>
                <a:solidFill>
                  <a:srgbClr val="1C874E"/>
                </a:solidFill>
                <a:latin typeface="Arial"/>
              </a:rPr>
              <a:t>READY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267712" y="3520440"/>
            <a:ext cx="4343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14142B"/>
                </a:solidFill>
                <a:latin typeface="Arial"/>
              </a:rPr>
              <a:t>DEMO VIDEO · MAX 5 MINUTES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051560" y="4334256"/>
            <a:ext cx="905256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ounded Rectangle 169"/>
          <p:cNvSpPr/>
          <p:nvPr/>
        </p:nvSpPr>
        <p:spPr>
          <a:xfrm>
            <a:off x="1234440" y="4498848"/>
            <a:ext cx="841248" cy="347472"/>
          </a:xfrm>
          <a:prstGeom prst="roundRect">
            <a:avLst/>
          </a:prstGeom>
          <a:solidFill>
            <a:srgbClr val="EBFAF2"/>
          </a:solidFill>
          <a:ln w="10160">
            <a:solidFill>
              <a:srgbClr val="EBF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000" b="1">
                <a:solidFill>
                  <a:srgbClr val="1C874E"/>
                </a:solidFill>
                <a:latin typeface="Arial"/>
              </a:rPr>
              <a:t>READY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267712" y="4462272"/>
            <a:ext cx="4343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>
                <a:solidFill>
                  <a:srgbClr val="14142B"/>
                </a:solidFill>
                <a:latin typeface="Arial"/>
              </a:rPr>
              <a:t>PRESENTATION FILE · PPT / PDF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903720" y="4462272"/>
            <a:ext cx="2880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>
                <a:solidFill>
                  <a:srgbClr val="63637E"/>
                </a:solidFill>
                <a:latin typeface="Arial"/>
              </a:rPr>
              <a:t>YES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676572" y="583441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</a:t>
            </a:r>
            <a:r>
              <a:rPr lang="en-US" sz="11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by the Language AI Team and the PRISM Team, Samsung R&amp;D Institute India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1046181" y="4598894"/>
            <a:ext cx="69494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6D28D9"/>
                </a:solidFill>
                <a:latin typeface="Arial"/>
              </a:rPr>
              <a:t>TECHSAGE  ·  THEME 02
Smart Guided Troubleshooting Engine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51560" y="5349240"/>
            <a:ext cx="740664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>
                <a:solidFill>
                  <a:srgbClr val="63637E"/>
                </a:solidFill>
                <a:latin typeface="Arial"/>
              </a:rPr>
              <a:t>AI understands the problem. Symbolic reasoning controls the solution.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1314</Words>
  <Application>Microsoft Office PowerPoint</Application>
  <PresentationFormat>Widescreen</PresentationFormat>
  <Paragraphs>218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 (differentiation)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sontam Prekshitha</cp:lastModifiedBy>
  <cp:revision>2</cp:revision>
  <dcterms:created xsi:type="dcterms:W3CDTF">2026-09-07T12:01:01Z</dcterms:created>
  <dcterms:modified xsi:type="dcterms:W3CDTF">2026-09-30T18:34:02Z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